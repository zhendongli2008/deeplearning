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375" r:id="rId2"/>
    <p:sldId id="457" r:id="rId3"/>
    <p:sldId id="459" r:id="rId4"/>
    <p:sldId id="376" r:id="rId5"/>
    <p:sldId id="377" r:id="rId6"/>
    <p:sldId id="378" r:id="rId7"/>
    <p:sldId id="379" r:id="rId8"/>
    <p:sldId id="380" r:id="rId9"/>
    <p:sldId id="383" r:id="rId10"/>
    <p:sldId id="384" r:id="rId11"/>
    <p:sldId id="458" r:id="rId12"/>
    <p:sldId id="404" r:id="rId13"/>
    <p:sldId id="405" r:id="rId14"/>
    <p:sldId id="406" r:id="rId15"/>
    <p:sldId id="407" r:id="rId16"/>
    <p:sldId id="408" r:id="rId17"/>
    <p:sldId id="411" r:id="rId18"/>
    <p:sldId id="412" r:id="rId19"/>
    <p:sldId id="414" r:id="rId20"/>
    <p:sldId id="460" r:id="rId21"/>
  </p:sldIdLst>
  <p:sldSz cx="12192000" cy="6858000"/>
  <p:notesSz cx="68580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DM Sans" pitchFamily="2" charset="77"/>
      <p:regular r:id="rId27"/>
      <p:bold r:id="rId28"/>
      <p:italic r:id="rId29"/>
      <p:boldItalic r:id="rId30"/>
    </p:embeddedFont>
    <p:embeddedFont>
      <p:font typeface="Merriweather" pitchFamily="2" charset="77"/>
      <p:regular r:id="rId31"/>
      <p:bold r:id="rId32"/>
      <p:italic r:id="rId33"/>
      <p:boldItalic r:id="rId34"/>
    </p:embeddedFont>
    <p:embeddedFont>
      <p:font typeface="Microsoft YaHei" panose="020B0503020204020204" pitchFamily="34" charset="-122"/>
      <p:regular r:id="rId35"/>
      <p:bold r:id="rId36"/>
    </p:embeddedFont>
    <p:embeddedFont>
      <p:font typeface="Segoe UI" panose="020B0502040204020203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82185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2778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1902372" y="2386012"/>
            <a:ext cx="8092965" cy="20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err="1">
                <a:solidFill>
                  <a:srgbClr val="0021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erriweather"/>
                <a:sym typeface="Merriweather"/>
              </a:rPr>
              <a:t>深度学习与</a:t>
            </a:r>
            <a:r>
              <a:rPr lang="en-US" sz="4800" b="1" i="0" u="none" strike="noStrike" cap="none" dirty="0">
                <a:solidFill>
                  <a:srgbClr val="0021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erriweather"/>
                <a:sym typeface="Merriweather"/>
              </a:rPr>
              <a:t>(</a:t>
            </a:r>
            <a:r>
              <a:rPr lang="en-US" sz="4800" b="1" i="0" u="none" strike="noStrike" cap="none" dirty="0" err="1">
                <a:solidFill>
                  <a:srgbClr val="0021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erriweather"/>
                <a:sym typeface="Merriweather"/>
              </a:rPr>
              <a:t>理论</a:t>
            </a:r>
            <a:r>
              <a:rPr lang="en-US" sz="4800" b="1" i="0" u="none" strike="noStrike" cap="none" dirty="0">
                <a:solidFill>
                  <a:srgbClr val="0021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erriweather"/>
                <a:sym typeface="Merriweather"/>
              </a:rPr>
              <a:t>)</a:t>
            </a:r>
            <a:r>
              <a:rPr lang="en-US" sz="4800" b="1" i="0" u="none" strike="noStrike" cap="none" dirty="0" err="1">
                <a:solidFill>
                  <a:srgbClr val="0021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erriweather"/>
                <a:sym typeface="Merriweather"/>
              </a:rPr>
              <a:t>化学的碰撞</a:t>
            </a:r>
            <a:endParaRPr lang="en-US" sz="4800" b="1" i="0" u="none" strike="noStrike" cap="none" dirty="0">
              <a:solidFill>
                <a:srgbClr val="00214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erriweather"/>
              <a:sym typeface="Merriweath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4800" b="1" dirty="0">
              <a:solidFill>
                <a:srgbClr val="002147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erriweath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 err="1">
                <a:solidFill>
                  <a:srgbClr val="0021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erriweather"/>
              </a:rPr>
              <a:t>李振东</a:t>
            </a:r>
            <a:endParaRPr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7F4CE-9B05-9246-B423-F1528E241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CN" sz="4000" b="1" dirty="0"/>
              <a:t>大纲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EA28E-9490-A94A-BBC9-90F78603A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600200"/>
            <a:ext cx="11093669" cy="4525963"/>
          </a:xfrm>
        </p:spPr>
        <p:txBody>
          <a:bodyPr>
            <a:normAutofit/>
          </a:bodyPr>
          <a:lstStyle/>
          <a:p>
            <a:r>
              <a:rPr lang="en-CN" sz="2400" dirty="0">
                <a:solidFill>
                  <a:schemeClr val="bg1">
                    <a:lumMod val="50000"/>
                  </a:schemeClr>
                </a:solidFill>
              </a:rPr>
              <a:t>深度学习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</a:rPr>
              <a:t>简介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</a:rPr>
              <a:t>卷积神经网络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</a:rPr>
              <a:t>(CNN)</a:t>
            </a:r>
          </a:p>
          <a:p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</a:rPr>
              <a:t>图神经网络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</a:rPr>
              <a:t>(GNN)</a:t>
            </a:r>
          </a:p>
          <a:p>
            <a:r>
              <a:rPr lang="en-US" altLang="zh-CN" sz="2400">
                <a:solidFill>
                  <a:schemeClr val="bg1">
                    <a:lumMod val="50000"/>
                  </a:schemeClr>
                </a:solidFill>
              </a:rPr>
              <a:t>Transformers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tx1"/>
                </a:solidFill>
              </a:rPr>
              <a:t>在化学中的应用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</a:rPr>
              <a:t>机器学习力场（</a:t>
            </a:r>
            <a:r>
              <a:rPr lang="en-CN" sz="2000" dirty="0">
                <a:solidFill>
                  <a:schemeClr val="tx1"/>
                </a:solidFill>
              </a:rPr>
              <a:t>MLFF</a:t>
            </a:r>
            <a:r>
              <a:rPr lang="zh-CN" altLang="en-US" sz="2000" dirty="0">
                <a:solidFill>
                  <a:schemeClr val="tx1"/>
                </a:solidFill>
              </a:rPr>
              <a:t>）：直接学习</a:t>
            </a:r>
            <a:r>
              <a:rPr lang="en-US" altLang="zh-CN" sz="2000" dirty="0">
                <a:solidFill>
                  <a:schemeClr val="tx1"/>
                </a:solidFill>
              </a:rPr>
              <a:t>DFT</a:t>
            </a:r>
            <a:r>
              <a:rPr lang="zh-CN" altLang="en-US" sz="2000" dirty="0">
                <a:solidFill>
                  <a:schemeClr val="tx1"/>
                </a:solidFill>
              </a:rPr>
              <a:t>能量</a:t>
            </a:r>
            <a:endParaRPr lang="en-CN" sz="2000" dirty="0">
              <a:solidFill>
                <a:schemeClr val="tx1"/>
              </a:solidFill>
            </a:endParaRPr>
          </a:p>
          <a:p>
            <a:pPr lvl="1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机器学习辅助电子结构理论：更加普适、但计算量更大</a:t>
            </a:r>
            <a:endParaRPr lang="en-CN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558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295275" y="1739205"/>
            <a:ext cx="116014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 err="1">
                <a:solidFill>
                  <a:srgbClr val="002D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oppins"/>
                <a:sym typeface="Poppins"/>
              </a:rPr>
              <a:t>机器学习力场</a:t>
            </a:r>
            <a:r>
              <a:rPr lang="en-US" sz="4800" b="1" dirty="0">
                <a:solidFill>
                  <a:srgbClr val="002D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oppins"/>
                <a:sym typeface="Poppins"/>
              </a:rPr>
              <a:t>(MLFF)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382106"/>
            <a:ext cx="11049000" cy="991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1" algn="ctr">
              <a:buSzPts val="1000"/>
              <a:tabLst>
                <a:tab pos="914400" algn="l"/>
              </a:tabLst>
            </a:pPr>
            <a:r>
              <a:rPr lang="zh-CN" altLang="en-US" sz="2100" dirty="0">
                <a:solidFill>
                  <a:srgbClr val="00A6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</a:rPr>
              <a:t>高维神经网络势（</a:t>
            </a:r>
            <a:r>
              <a:rPr lang="en-CN" sz="2100" dirty="0">
                <a:solidFill>
                  <a:srgbClr val="00A6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</a:rPr>
              <a:t>HDNNP</a:t>
            </a:r>
            <a:r>
              <a:rPr lang="zh-CN" altLang="en-US" sz="2100" dirty="0">
                <a:solidFill>
                  <a:srgbClr val="00A6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</a:rPr>
              <a:t>）的基本思想（</a:t>
            </a:r>
            <a:r>
              <a:rPr lang="en-CN" sz="2100" dirty="0">
                <a:solidFill>
                  <a:srgbClr val="00A6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</a:rPr>
              <a:t>Behler-Parrinello</a:t>
            </a:r>
            <a:r>
              <a:rPr lang="zh-CN" altLang="en-US" sz="2100" dirty="0">
                <a:solidFill>
                  <a:srgbClr val="00A6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</a:rPr>
              <a:t>网络）</a:t>
            </a:r>
            <a:endParaRPr lang="en-CN" sz="2100" dirty="0">
              <a:solidFill>
                <a:srgbClr val="00A6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Lato"/>
            </a:endParaRPr>
          </a:p>
          <a:p>
            <a:pPr marL="457200" lvl="1" algn="ctr">
              <a:buSzPts val="1000"/>
              <a:tabLst>
                <a:tab pos="914400" algn="l"/>
              </a:tabLst>
            </a:pPr>
            <a:r>
              <a:rPr lang="zh-CN" altLang="en-US" sz="2100" dirty="0">
                <a:solidFill>
                  <a:srgbClr val="00A6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</a:rPr>
              <a:t>突破经典力场的精度极限与传统</a:t>
            </a:r>
            <a:r>
              <a:rPr lang="en-CN" sz="2100" dirty="0">
                <a:solidFill>
                  <a:srgbClr val="00A6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</a:rPr>
              <a:t>DFT</a:t>
            </a:r>
            <a:r>
              <a:rPr lang="zh-CN" altLang="en-US" sz="2100" dirty="0">
                <a:solidFill>
                  <a:srgbClr val="00A6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</a:rPr>
              <a:t>的时间尺度限制</a:t>
            </a:r>
            <a:endParaRPr lang="en-CN" sz="2100" dirty="0">
              <a:solidFill>
                <a:srgbClr val="00A6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Lato"/>
            </a:endParaRPr>
          </a:p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5381625" y="4690020"/>
            <a:ext cx="1428750" cy="47625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84658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571500" y="2233612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21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erriweather"/>
                <a:sym typeface="Merriweather"/>
              </a:rPr>
              <a:t>精度 vs. 效率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2843212"/>
            <a:ext cx="5286375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DM Sans"/>
                <a:sym typeface="DM Sans"/>
              </a:rPr>
              <a:t>密度泛函理论 (DFT) 虽然精度高，但计算成本随体系尺寸呈立方增长。经典分子动力学 (MD) 虽然快，但缺乏描述化学键形成和断裂所需的量子精度。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3890962"/>
            <a:ext cx="52863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DM Sans"/>
                <a:sym typeface="DM Sans"/>
              </a:rPr>
              <a:t>机器学习力场</a:t>
            </a:r>
            <a:r>
              <a:rPr lang="en-US" sz="1500" b="0" i="0" u="none" strike="noStrike" cap="none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DM Sans"/>
                <a:sym typeface="DM Sans"/>
              </a:rPr>
              <a:t> (MLFF) </a:t>
            </a:r>
            <a:r>
              <a:rPr lang="en-US" sz="1500" b="0" i="0" u="none" strike="noStrike" cap="none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DM Sans"/>
                <a:sym typeface="DM Sans"/>
              </a:rPr>
              <a:t>旨在填补这一鸿沟，通过拟合</a:t>
            </a:r>
            <a:r>
              <a:rPr lang="en-US" sz="1500" b="0" i="0" u="none" strike="noStrike" cap="none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DM Sans"/>
                <a:sym typeface="DM Sans"/>
              </a:rPr>
              <a:t> PES </a:t>
            </a:r>
            <a:r>
              <a:rPr lang="en-US" sz="1500" b="0" i="0" u="none" strike="noStrike" cap="none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DM Sans"/>
                <a:sym typeface="DM Sans"/>
              </a:rPr>
              <a:t>实现</a:t>
            </a:r>
            <a:r>
              <a:rPr lang="en-US" sz="1500" b="0" i="0" u="none" strike="noStrike" cap="none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DM Sans"/>
                <a:sym typeface="DM Sans"/>
              </a:rPr>
              <a:t> DFT </a:t>
            </a:r>
            <a:r>
              <a:rPr lang="en-US" sz="1500" b="0" i="0" u="none" strike="noStrike" cap="none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DM Sans"/>
                <a:sym typeface="DM Sans"/>
              </a:rPr>
              <a:t>的质量与经典</a:t>
            </a:r>
            <a:r>
              <a:rPr lang="en-US" sz="1500" b="0" i="0" u="none" strike="noStrike" cap="none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DM Sans"/>
                <a:sym typeface="DM Sans"/>
              </a:rPr>
              <a:t> MD </a:t>
            </a:r>
            <a:r>
              <a:rPr lang="en-US" sz="1500" b="0" i="0" u="none" strike="noStrike" cap="none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DM Sans"/>
                <a:sym typeface="DM Sans"/>
              </a:rPr>
              <a:t>的速度</a:t>
            </a:r>
            <a:r>
              <a:rPr lang="en-US" sz="1500" b="0" i="0" u="none" strike="noStrike" cap="none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DM Sans"/>
                <a:sym typeface="DM Sans"/>
              </a:rPr>
              <a:t>。</a:t>
            </a:r>
            <a:endParaRPr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233612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erriweather"/>
                <a:sym typeface="Merriweather"/>
              </a:rPr>
              <a:t>计算化学的两难境地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571500" y="571500"/>
            <a:ext cx="95250" cy="5619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681287"/>
            <a:ext cx="5286375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681287"/>
            <a:ext cx="5286375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849391" y="3071812"/>
            <a:ext cx="47305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erriweather"/>
                <a:sym typeface="Merriweather"/>
              </a:rPr>
              <a:t>数据驱动的 PES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962025" y="3681412"/>
            <a:ext cx="4505325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DM Sans"/>
                <a:sym typeface="DM Sans"/>
              </a:rPr>
              <a:t>利用机器学习算法（如神经网络、高斯过程）在第一性原理数据（能量、力）上进行训练，学习原子坐标与能量之间的复杂映射关系。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6612016" y="3071812"/>
            <a:ext cx="47305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erriweather"/>
                <a:sym typeface="Merriweather"/>
              </a:rPr>
              <a:t>核心目标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6724650" y="3681412"/>
            <a:ext cx="4505325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DM Sans"/>
                <a:sym typeface="DM Sans"/>
              </a:rPr>
              <a:t>在保持 $O(N)$ 线性缩放的同时，获得计算化学中“金本位”级别的预测能力，支持长达微秒级的复杂过程模拟。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erriweather"/>
                <a:sym typeface="Merriweather"/>
              </a:rPr>
              <a:t>什么是机器学习力场？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571500" y="571500"/>
            <a:ext cx="95250" cy="5619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84276" y="1294775"/>
            <a:ext cx="4130226" cy="465789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571500" y="17049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2007 年由 Behler 和 Parrinello 提出的奠基性工作。其核心思想是将系统的总能量分解为局部原子能量的加和：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1681448" y="2686675"/>
            <a:ext cx="272238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$E_{tot} = \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sum_i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E_i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$</a:t>
            </a:r>
            <a:endParaRPr dirty="0"/>
          </a:p>
        </p:txBody>
      </p:sp>
      <p:sp>
        <p:nvSpPr>
          <p:cNvPr id="121" name="Google Shape;121;p16"/>
          <p:cNvSpPr txBox="1"/>
          <p:nvPr/>
        </p:nvSpPr>
        <p:spPr>
          <a:xfrm>
            <a:off x="571500" y="3381375"/>
            <a:ext cx="52863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00000"/>
                </a:solidFill>
                <a:latin typeface="DM Sans"/>
                <a:ea typeface="DM Sans"/>
                <a:cs typeface="DM Sans"/>
                <a:sym typeface="DM Sans"/>
              </a:rPr>
              <a:t>这种方案允许模型处理具有不同原子数量和类型的动态体系，解决了神经网络输入维度固定的限制</a:t>
            </a:r>
            <a:r>
              <a:rPr lang="en-US" sz="1500" b="0" i="0" u="none" strike="noStrike" cap="none" dirty="0">
                <a:solidFill>
                  <a:srgbClr val="C00000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10" name="Google Shape;131;p17">
            <a:extLst>
              <a:ext uri="{FF2B5EF4-FFF2-40B4-BE49-F238E27FC236}">
                <a16:creationId xmlns:a16="http://schemas.microsoft.com/office/drawing/2014/main" id="{0B2D1703-C11E-044A-97CF-23AEC6174A09}"/>
              </a:ext>
            </a:extLst>
          </p:cNvPr>
          <p:cNvSpPr txBox="1"/>
          <p:nvPr/>
        </p:nvSpPr>
        <p:spPr>
          <a:xfrm>
            <a:off x="762000" y="571500"/>
            <a:ext cx="11401425" cy="72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 err="1">
                <a:solidFill>
                  <a:srgbClr val="002147"/>
                </a:solidFill>
                <a:latin typeface="Merriweather"/>
                <a:sym typeface="Merriweather"/>
              </a:rPr>
              <a:t>Behler-Parrinello</a:t>
            </a:r>
            <a:r>
              <a:rPr lang="en-US" sz="3300" b="1" dirty="0">
                <a:solidFill>
                  <a:srgbClr val="002147"/>
                </a:solidFill>
                <a:latin typeface="Merriweather"/>
                <a:sym typeface="Merriweather"/>
              </a:rPr>
              <a:t> </a:t>
            </a:r>
            <a:r>
              <a:rPr lang="zh-CN" altLang="en-US" sz="3300" b="1" dirty="0">
                <a:solidFill>
                  <a:srgbClr val="002147"/>
                </a:solidFill>
                <a:latin typeface="Merriweather"/>
                <a:sym typeface="Merriweather"/>
              </a:rPr>
              <a:t>网络</a:t>
            </a:r>
            <a:endParaRPr lang="zh-CN" altLang="en-US" sz="3300" b="1" dirty="0">
              <a:solidFill>
                <a:srgbClr val="002147"/>
              </a:solidFill>
              <a:latin typeface="Merriweath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132;p17">
            <a:extLst>
              <a:ext uri="{FF2B5EF4-FFF2-40B4-BE49-F238E27FC236}">
                <a16:creationId xmlns:a16="http://schemas.microsoft.com/office/drawing/2014/main" id="{49AC6DAC-79C2-3041-86B2-23440A35A5C6}"/>
              </a:ext>
            </a:extLst>
          </p:cNvPr>
          <p:cNvSpPr/>
          <p:nvPr/>
        </p:nvSpPr>
        <p:spPr>
          <a:xfrm>
            <a:off x="571500" y="571500"/>
            <a:ext cx="95250" cy="5619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17;p23">
            <a:extLst>
              <a:ext uri="{FF2B5EF4-FFF2-40B4-BE49-F238E27FC236}">
                <a16:creationId xmlns:a16="http://schemas.microsoft.com/office/drawing/2014/main" id="{689B68CA-BE73-5C40-AE0F-5A72812242C0}"/>
              </a:ext>
            </a:extLst>
          </p:cNvPr>
          <p:cNvSpPr txBox="1"/>
          <p:nvPr/>
        </p:nvSpPr>
        <p:spPr>
          <a:xfrm>
            <a:off x="862494" y="4613842"/>
            <a:ext cx="4872859" cy="133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Behler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&amp;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Parrinello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(2007)</a:t>
            </a:r>
            <a:r>
              <a:rPr lang="en-US" sz="150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, Phys. Rev. Lett. 98, 146401. - </a:t>
            </a:r>
            <a:r>
              <a:rPr lang="en-US" sz="150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奠基性高维神经网络势方案</a:t>
            </a:r>
            <a:r>
              <a:rPr lang="en-US" sz="150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sz="1400" b="1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Behler</a:t>
            </a:r>
            <a:r>
              <a:rPr lang="en-US" sz="140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(2011)</a:t>
            </a:r>
            <a:r>
              <a:rPr lang="en-US" sz="140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, J. Chem. Phys. 134, 074106. </a:t>
            </a:r>
          </a:p>
          <a:p>
            <a:pPr>
              <a:lnSpc>
                <a:spcPct val="150000"/>
              </a:lnSpc>
            </a:pPr>
            <a:r>
              <a:rPr lang="en-US" sz="140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- </a:t>
            </a:r>
            <a:r>
              <a:rPr lang="zh-CN" altLang="en-US" sz="140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关于 </a:t>
            </a:r>
            <a:r>
              <a:rPr lang="en-US" sz="140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ACSF </a:t>
            </a:r>
            <a:r>
              <a:rPr lang="zh-CN" altLang="en-US" sz="140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对称函数的详细综述。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/>
          <p:nvPr/>
        </p:nvSpPr>
        <p:spPr>
          <a:xfrm>
            <a:off x="6334125" y="2233612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0021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erriweather"/>
                <a:sym typeface="Merriweather"/>
              </a:rPr>
              <a:t>局部性原理</a:t>
            </a:r>
            <a:r>
              <a:rPr lang="en-US" sz="2400" b="0" i="0" u="none" strike="noStrike" cap="none" dirty="0">
                <a:solidFill>
                  <a:srgbClr val="0021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erriweather"/>
                <a:sym typeface="Merriweather"/>
              </a:rPr>
              <a:t>(“nearsightedness”)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6334125" y="2843212"/>
            <a:ext cx="52863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DM Sans"/>
                <a:sym typeface="DM Sans"/>
              </a:rPr>
              <a:t>通过设定截断半径</a:t>
            </a:r>
            <a:r>
              <a:rPr lang="en-US" sz="1500" b="0" i="0" u="none" strike="noStrike" cap="none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DM Sans"/>
                <a:sym typeface="DM Sans"/>
              </a:rPr>
              <a:t> (Cutoff radius)，</a:t>
            </a:r>
            <a:r>
              <a:rPr lang="en-US" sz="1500" b="0" i="0" u="none" strike="noStrike" cap="none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DM Sans"/>
                <a:sym typeface="DM Sans"/>
              </a:rPr>
              <a:t>模型仅考虑原子周围的局部邻域。这种局部性确保了计算的效率和可扩展性</a:t>
            </a:r>
            <a:r>
              <a:rPr lang="en-US" sz="1500" b="0" i="0" u="none" strike="noStrike" cap="none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DM Sans"/>
                <a:sym typeface="DM Sans"/>
              </a:rPr>
              <a:t>。</a:t>
            </a:r>
            <a:endParaRPr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6334125" y="3605212"/>
            <a:ext cx="52863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DM Sans"/>
                <a:sym typeface="DM Sans"/>
              </a:rPr>
              <a:t>原子中心对称函数 (ACSF) 用于捕捉几何信息，同时满足旋转、平移和置换不变性，这是构建稳健力场的物理基础。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30" name="Google Shape;13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33612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erriweather"/>
                <a:sym typeface="Merriweather"/>
              </a:rPr>
              <a:t>核心思想：局部原子环境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571500" y="571500"/>
            <a:ext cx="95250" cy="5619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/>
        </p:nvSpPr>
        <p:spPr>
          <a:xfrm>
            <a:off x="1176339" y="3155731"/>
            <a:ext cx="4362613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zh-CN" altLang="en-US" sz="3600" b="1" i="0" u="none" strike="noStrike" cap="none" dirty="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DM Sans"/>
                <a:sym typeface="DM Sans"/>
              </a:rPr>
              <a:t>原子模拟规模</a:t>
            </a:r>
            <a:r>
              <a:rPr lang="en-US" sz="3600" b="1" i="0" u="none" strike="noStrike" cap="none" dirty="0">
                <a:solidFill>
                  <a:srgbClr val="0021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erriweather"/>
                <a:sym typeface="Merriweather"/>
              </a:rPr>
              <a:t>&gt;10</a:t>
            </a:r>
            <a:r>
              <a:rPr lang="en-US" sz="3600" b="1" i="0" u="none" strike="noStrike" cap="none" baseline="30000" dirty="0">
                <a:solidFill>
                  <a:srgbClr val="0021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erriweather"/>
                <a:sym typeface="Merriweather"/>
              </a:rPr>
              <a:t>6</a:t>
            </a:r>
            <a:endParaRPr sz="300" baseline="30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6334127" y="2560418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21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erriweather"/>
                <a:sym typeface="Merriweather"/>
              </a:rPr>
              <a:t>性能提升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6334127" y="3170018"/>
            <a:ext cx="52863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DM Sans"/>
                <a:sym typeface="DM Sans"/>
              </a:rPr>
              <a:t>MLFF 模型可以将模拟时长从皮秒 (ps) 量级提升至微秒 ($\mu$s) 级别。同时，能量预测误差可低至 1 meV/atom。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6334127" y="3932018"/>
            <a:ext cx="52863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DM Sans"/>
                <a:sym typeface="DM Sans"/>
              </a:rPr>
              <a:t>这使得研究复杂的化学动力学、相变和稀有事件成为可能，大大扩展了计算化学的研究边界。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erriweather"/>
                <a:sym typeface="Merriweather"/>
              </a:rPr>
              <a:t>突破：精度与时空尺度的跨越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571500" y="571500"/>
            <a:ext cx="95250" cy="5619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66937"/>
            <a:ext cx="3429000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2166937"/>
            <a:ext cx="3429000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2166937"/>
            <a:ext cx="3429000" cy="34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1"/>
          <p:cNvSpPr txBox="1"/>
          <p:nvPr/>
        </p:nvSpPr>
        <p:spPr>
          <a:xfrm>
            <a:off x="795813" y="3252787"/>
            <a:ext cx="29803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21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erriweather"/>
                <a:sym typeface="Merriweather"/>
              </a:rPr>
              <a:t>化学反应建模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866775" y="4005262"/>
            <a:ext cx="283845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DM Sans"/>
                <a:sym typeface="DM Sans"/>
              </a:rPr>
              <a:t>与传统的固定键力场不同，MLFF 能够描述键的断裂和生成过程，直接模拟化学反应。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4605813" y="3252787"/>
            <a:ext cx="29803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21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erriweather"/>
                <a:sym typeface="Merriweather"/>
              </a:rPr>
              <a:t>稀有事件采样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4676775" y="4005262"/>
            <a:ext cx="283845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DM Sans"/>
                <a:sym typeface="DM Sans"/>
              </a:rPr>
              <a:t>结合增强采样技术，MLFF 能够更有效地探索势能面的鞍点和极小值点，研究反应动力学。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8415813" y="3252787"/>
            <a:ext cx="29803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21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erriweather"/>
                <a:sym typeface="Merriweather"/>
              </a:rPr>
              <a:t>自动学习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8486775" y="4005262"/>
            <a:ext cx="283845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DM Sans"/>
                <a:sym typeface="DM Sans"/>
              </a:rPr>
              <a:t>通过主动学习 (Active Learning)，模型可以在模拟过程中识别并修正高不确定性区域，不断自我完善。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79" name="Google Shape;17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85975" y="251936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95975" y="251936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77400" y="251936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erriweather"/>
                <a:sym typeface="Merriweather"/>
              </a:rPr>
              <a:t>优势：势能面的全局探索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571500" y="571500"/>
            <a:ext cx="95250" cy="5619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9" name="Google Shape;189;p22"/>
          <p:cNvGraphicFramePr/>
          <p:nvPr>
            <p:extLst>
              <p:ext uri="{D42A27DB-BD31-4B8C-83A1-F6EECF244321}">
                <p14:modId xmlns:p14="http://schemas.microsoft.com/office/powerpoint/2010/main" val="4189804796"/>
              </p:ext>
            </p:extLst>
          </p:nvPr>
        </p:nvGraphicFramePr>
        <p:xfrm>
          <a:off x="2443162" y="2589311"/>
          <a:ext cx="7305675" cy="26223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5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214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方法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214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精度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214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计算速度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00214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可扩展性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00214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反应性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经典力场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低 - 中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极快 ($O(N)$)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极高</a:t>
                      </a:r>
                      <a:r>
                        <a:rPr lang="en-US" sz="1500" b="0" i="0" u="none" strike="noStrike" cap="none" dirty="0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(10</a:t>
                      </a:r>
                      <a:r>
                        <a:rPr lang="en-US" sz="1500" b="0" i="0" u="none" strike="noStrike" cap="none" baseline="30000" dirty="0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</a:t>
                      </a:r>
                      <a:r>
                        <a:rPr lang="en-US" sz="1500" b="0" i="0" u="none" strike="noStrike" cap="none" dirty="0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原子)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难以处理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DFT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高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慢 ($O(N^3)$)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低</a:t>
                      </a:r>
                      <a:r>
                        <a:rPr lang="en-US" sz="1500" b="0" i="0" u="none" strike="noStrike" cap="none" dirty="0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(10</a:t>
                      </a:r>
                      <a:r>
                        <a:rPr lang="en-US" altLang="zh-CN" sz="1500" b="0" i="0" u="none" strike="noStrike" cap="none" baseline="30000" dirty="0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</a:t>
                      </a:r>
                      <a:r>
                        <a:rPr lang="en-US" sz="1500" b="0" i="0" u="none" strike="noStrike" cap="none" dirty="0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原子)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原生支持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MLFF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极高 (DFT 级)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快 ($O(N)$)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高</a:t>
                      </a:r>
                      <a:r>
                        <a:rPr lang="en-US" sz="1500" b="1" i="0" u="none" strike="noStrike" cap="none" dirty="0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(10</a:t>
                      </a:r>
                      <a:r>
                        <a:rPr lang="en-US" sz="1500" b="1" i="0" u="none" strike="noStrike" cap="none" baseline="30000" dirty="0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</a:t>
                      </a:r>
                      <a:r>
                        <a:rPr lang="en-US" sz="1500" b="1" i="0" u="none" strike="noStrike" cap="none" dirty="0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原子)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支持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0" name="Google Shape;190;p22"/>
          <p:cNvSpPr/>
          <p:nvPr/>
        </p:nvSpPr>
        <p:spPr>
          <a:xfrm>
            <a:off x="2443162" y="3213199"/>
            <a:ext cx="1219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3662362" y="3213199"/>
            <a:ext cx="1628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5291137" y="3213199"/>
            <a:ext cx="1695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  <p:sp>
        <p:nvSpPr>
          <p:cNvPr id="193" name="Google Shape;193;p22"/>
          <p:cNvSpPr/>
          <p:nvPr/>
        </p:nvSpPr>
        <p:spPr>
          <a:xfrm>
            <a:off x="6986587" y="3213199"/>
            <a:ext cx="1543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  <p:sp>
        <p:nvSpPr>
          <p:cNvPr id="194" name="Google Shape;194;p22"/>
          <p:cNvSpPr/>
          <p:nvPr/>
        </p:nvSpPr>
        <p:spPr>
          <a:xfrm>
            <a:off x="8529637" y="3213199"/>
            <a:ext cx="1219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2443162" y="3886200"/>
            <a:ext cx="1219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3662362" y="3886200"/>
            <a:ext cx="1628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5291137" y="3886200"/>
            <a:ext cx="1695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6986587" y="3886200"/>
            <a:ext cx="1543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8529637" y="3886200"/>
            <a:ext cx="1219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2443162" y="4524375"/>
            <a:ext cx="1219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3662362" y="4524375"/>
            <a:ext cx="1628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5291137" y="4524375"/>
            <a:ext cx="1695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6986587" y="4524375"/>
            <a:ext cx="1543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8529637" y="4524375"/>
            <a:ext cx="1219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2443162" y="5197375"/>
            <a:ext cx="1219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3662362" y="5197375"/>
            <a:ext cx="1628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5291137" y="5197375"/>
            <a:ext cx="1695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6986587" y="5197375"/>
            <a:ext cx="1543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8529637" y="5197375"/>
            <a:ext cx="1219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erriweather"/>
                <a:sym typeface="Merriweather"/>
              </a:rPr>
              <a:t>方法对比：经典 vs. DFT vs. MLFF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571500" y="571500"/>
            <a:ext cx="95250" cy="5619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7F4CE-9B05-9246-B423-F1528E241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CN" sz="4000" b="1" dirty="0"/>
              <a:t>大纲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EA28E-9490-A94A-BBC9-90F78603A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600200"/>
            <a:ext cx="11093669" cy="4525963"/>
          </a:xfrm>
        </p:spPr>
        <p:txBody>
          <a:bodyPr>
            <a:normAutofit/>
          </a:bodyPr>
          <a:lstStyle/>
          <a:p>
            <a:r>
              <a:rPr lang="en-CN" sz="2400" dirty="0">
                <a:solidFill>
                  <a:schemeClr val="bg1">
                    <a:lumMod val="50000"/>
                  </a:schemeClr>
                </a:solidFill>
              </a:rPr>
              <a:t>深度学习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</a:rPr>
              <a:t>简介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</a:rPr>
              <a:t>卷积神经网络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</a:rPr>
              <a:t>(CNN)</a:t>
            </a:r>
          </a:p>
          <a:p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</a:rPr>
              <a:t>图神经网络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</a:rPr>
              <a:t>(GNN)</a:t>
            </a:r>
          </a:p>
          <a:p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</a:rPr>
              <a:t>Transformer</a:t>
            </a:r>
          </a:p>
          <a:p>
            <a:r>
              <a:rPr lang="zh-CN" altLang="en-US" sz="2400" dirty="0">
                <a:solidFill>
                  <a:schemeClr val="tx1"/>
                </a:solidFill>
              </a:rPr>
              <a:t>在化学中的应用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1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机器学习力场（</a:t>
            </a:r>
            <a:r>
              <a:rPr lang="en-CN" sz="2000" dirty="0">
                <a:solidFill>
                  <a:schemeClr val="bg1">
                    <a:lumMod val="50000"/>
                  </a:schemeClr>
                </a:solidFill>
              </a:rPr>
              <a:t>MLFF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）：直接学习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DFT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能量</a:t>
            </a:r>
            <a:endParaRPr lang="en-CN" sz="2000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</a:rPr>
              <a:t>机器学习辅助电子结构理论：更加普适、但计算量更大</a:t>
            </a:r>
            <a:endParaRPr lang="en-C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538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295275" y="1739205"/>
            <a:ext cx="116014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err="1">
                <a:solidFill>
                  <a:srgbClr val="002D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oppins"/>
                <a:sym typeface="Poppins"/>
              </a:rPr>
              <a:t>神经网络量子态</a:t>
            </a:r>
            <a:r>
              <a:rPr lang="en-US" sz="4800" b="1" i="0" u="none" strike="noStrike" cap="none" dirty="0">
                <a:solidFill>
                  <a:srgbClr val="002D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oppins"/>
                <a:sym typeface="Poppins"/>
              </a:rPr>
              <a:t>(NQS)</a:t>
            </a:r>
            <a:r>
              <a:rPr lang="en-US" sz="4800" b="1" i="0" u="none" strike="noStrike" cap="none" dirty="0" err="1">
                <a:solidFill>
                  <a:srgbClr val="002D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oppins"/>
                <a:sym typeface="Poppins"/>
              </a:rPr>
              <a:t>与多体问题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739455"/>
            <a:ext cx="11049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00A6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破解指数级复杂度的钥匙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5381625" y="4690020"/>
            <a:ext cx="1428750" cy="47625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66987"/>
            <a:ext cx="2907424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2024062"/>
            <a:ext cx="5238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对于含有 $N$ 个电子的体系，波函数定义在 $3N$ 维空间：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3138487"/>
            <a:ext cx="5238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指数墙：</a:t>
            </a:r>
            <a:r>
              <a:rPr lang="en-US" sz="1500" b="0" i="0" u="none" strike="noStrike" cap="none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 随着电子数量增加，传统数值方法所需的计算资源呈指数级增长。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890962"/>
            <a:ext cx="5238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多体问题（Many-Body</a:t>
            </a:r>
            <a:r>
              <a:rPr lang="en-US" sz="1500" b="0" i="0" u="none" strike="noStrike" cap="none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Problem）是物理、化学和材料科学中最具挑战性的核心难题之一</a:t>
            </a:r>
            <a:r>
              <a:rPr lang="en-US" sz="1500" b="0" i="0" u="none" strike="noStrike" cap="none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。</a:t>
            </a:r>
            <a:endParaRPr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3736" y="2688669"/>
            <a:ext cx="2662952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oppins"/>
                <a:sym typeface="Poppins"/>
              </a:rPr>
              <a:t>多体薛定谔方程：维度的诅咒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0A69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78707"/>
            <a:ext cx="5238750" cy="3300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78707"/>
            <a:ext cx="5238750" cy="330071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962025" y="2669232"/>
            <a:ext cx="46805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A6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oppins"/>
                <a:sym typeface="Poppins"/>
              </a:rPr>
              <a:t>波函数参数化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962025" y="3269307"/>
            <a:ext cx="44577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将复杂的波函数 $\Psi$ 视为一个黑盒映射，利用神经网络的</a:t>
            </a:r>
            <a:r>
              <a:rPr lang="en-US" sz="1500" b="1" i="0" u="none" strike="noStrike" cap="none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通用逼近能力</a:t>
            </a:r>
            <a:r>
              <a:rPr lang="en-US" sz="1500" b="0" i="0" u="none" strike="noStrike" cap="none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来寻找基态：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6772275" y="2669232"/>
            <a:ext cx="46805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A6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oppins"/>
                <a:sym typeface="Poppins"/>
              </a:rPr>
              <a:t>变分原理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6772275" y="3269307"/>
            <a:ext cx="4457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通过最小化能量期望值来优化网络权重 $\theta$：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6772275" y="4436417"/>
            <a:ext cx="44577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这使得 AI 能够通过采样学习而非网格划分来处理高维空间。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56414" y="4237940"/>
            <a:ext cx="2268922" cy="296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98019" y="3788634"/>
            <a:ext cx="2182980" cy="48131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oppins"/>
                <a:sym typeface="Poppins"/>
              </a:rPr>
              <a:t>神经网络量子态 (NQS) 概念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0A69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9000" y="1905364"/>
            <a:ext cx="3162446" cy="355775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762000" y="2779365"/>
            <a:ext cx="533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第一性原理深度学习</a:t>
            </a:r>
            <a:r>
              <a:rPr lang="en-US" sz="1500" b="1" i="0" u="none" strike="noStrike" cap="none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：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 DeepMind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提出的端到端框架，直接从坐标参数化费米子波函数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。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1634359" y="4967225"/>
            <a:ext cx="5334000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u="none" strike="noStrike" cap="none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Ref: Pfau et al., Phys. Rev. Research 2, 033429 (2020)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1028700" y="3684240"/>
            <a:ext cx="1143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•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1143000" y="3589650"/>
            <a:ext cx="4953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反对称性</a:t>
            </a:r>
            <a:r>
              <a:rPr lang="en-US" sz="1500" b="1" i="0" u="none" strike="noStrike" cap="none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：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利用行列式（Determinants）结构满足泡利不相容原理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。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1028700" y="4293840"/>
            <a:ext cx="1143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•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1143000" y="4293840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关联建模：</a:t>
            </a:r>
            <a:r>
              <a:rPr lang="en-US" sz="1500" b="0" i="0" u="none" strike="noStrike" cap="none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 网络层自动捕捉复杂的电子-电子相关效应。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Google Shape;116;p15">
            <a:extLst>
              <a:ext uri="{FF2B5EF4-FFF2-40B4-BE49-F238E27FC236}">
                <a16:creationId xmlns:a16="http://schemas.microsoft.com/office/drawing/2014/main" id="{25DADC0E-FA46-CC4D-954D-FC7264835E12}"/>
              </a:ext>
            </a:extLst>
          </p:cNvPr>
          <p:cNvSpPr txBox="1"/>
          <p:nvPr/>
        </p:nvSpPr>
        <p:spPr>
          <a:xfrm>
            <a:off x="762000" y="571500"/>
            <a:ext cx="11401425" cy="72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zh-CN" altLang="en-US" sz="3300" b="1" dirty="0">
                <a:solidFill>
                  <a:srgbClr val="002D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oppins"/>
                <a:sym typeface="Poppins"/>
              </a:rPr>
              <a:t>费米网络 </a:t>
            </a:r>
            <a:r>
              <a:rPr lang="en-US" altLang="zh-CN" sz="3300" b="1" dirty="0">
                <a:solidFill>
                  <a:srgbClr val="002D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oppins"/>
                <a:sym typeface="Poppins"/>
              </a:rPr>
              <a:t>(</a:t>
            </a:r>
            <a:r>
              <a:rPr lang="en-US" sz="3300" b="1" dirty="0" err="1">
                <a:solidFill>
                  <a:srgbClr val="002D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oppins"/>
                <a:sym typeface="Poppins"/>
              </a:rPr>
              <a:t>FermiNet</a:t>
            </a:r>
            <a:r>
              <a:rPr lang="en-US" sz="3300" b="1" dirty="0">
                <a:solidFill>
                  <a:srgbClr val="002D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oppins"/>
                <a:sym typeface="Poppins"/>
              </a:rPr>
              <a:t>)</a:t>
            </a:r>
            <a:endParaRPr lang="en-US" sz="3300" b="1" dirty="0">
              <a:solidFill>
                <a:srgbClr val="002D6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Google Shape;117;p15">
            <a:extLst>
              <a:ext uri="{FF2B5EF4-FFF2-40B4-BE49-F238E27FC236}">
                <a16:creationId xmlns:a16="http://schemas.microsoft.com/office/drawing/2014/main" id="{885B4D43-BF03-2A43-8357-C77CE0003A9C}"/>
              </a:ext>
            </a:extLst>
          </p:cNvPr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0A69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 txBox="1"/>
          <p:nvPr/>
        </p:nvSpPr>
        <p:spPr>
          <a:xfrm>
            <a:off x="1381125" y="2919412"/>
            <a:ext cx="10239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随机采样：</a:t>
            </a:r>
            <a:r>
              <a:rPr lang="en-US" sz="1500" b="0" i="0" u="none" strike="noStrike" cap="none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 使用马尔可夫链蒙特卡洛（MCMC）在高维分布 $|\Psi_\theta|^2$ 中采样。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1381125" y="3462337"/>
            <a:ext cx="10239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本地能量计算：</a:t>
            </a:r>
            <a:r>
              <a:rPr lang="en-US" sz="1500" b="0" i="0" u="none" strike="noStrike" cap="none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 在每个样本点计算 $E_{loc} = \hat{H}\Psi_\theta/\Psi_\theta$。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1381125" y="4005262"/>
            <a:ext cx="10239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闭环优化：</a:t>
            </a:r>
            <a:r>
              <a:rPr lang="en-US" sz="1500" b="0" i="0" u="none" strike="noStrike" cap="none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 AI 模型作为“试探波函数”，通过梯度下降不断逼近薛定谔方程的精确解。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1381125" y="4548187"/>
            <a:ext cx="10239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计算效率：</a:t>
            </a:r>
            <a:r>
              <a:rPr lang="en-US" sz="1500" b="0" i="0" u="none" strike="noStrike" cap="none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 将传统繁琐的行列式展开转化为高效的张量运算。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40" name="Google Shape;14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295751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35004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40433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4586287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oppins"/>
                <a:sym typeface="Poppins"/>
              </a:rPr>
              <a:t>变分蒙特卡洛 (VMC) 与深度学习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0A69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85987"/>
            <a:ext cx="3492549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185987"/>
            <a:ext cx="3492549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185987"/>
            <a:ext cx="3492549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904875" y="3167062"/>
            <a:ext cx="296708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A6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oppins"/>
                <a:sym typeface="Poppins"/>
              </a:rPr>
              <a:t>哈伯德模型</a:t>
            </a:r>
            <a:r>
              <a:rPr lang="en-US" sz="2400" b="1" i="0" u="none" strike="noStrike" cap="none" dirty="0">
                <a:solidFill>
                  <a:srgbClr val="00A6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oppins"/>
                <a:sym typeface="Poppins"/>
              </a:rPr>
              <a:t> (Hubbard)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904875" y="4224337"/>
            <a:ext cx="282579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AI 成功预测了晶格模型中的相变与磁序，揭示了强关联电子的微观行为。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683174" y="3167062"/>
            <a:ext cx="296708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A6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oppins"/>
                <a:sym typeface="Poppins"/>
              </a:rPr>
              <a:t>受挫磁体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683174" y="3767137"/>
            <a:ext cx="282579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神经网络能识别复杂的自旋液体态，这些状态在传统方法下极难描述。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8461474" y="3167062"/>
            <a:ext cx="296708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A6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oppins"/>
                <a:sym typeface="Poppins"/>
              </a:rPr>
              <a:t>高温超导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8461474" y="3767137"/>
            <a:ext cx="282579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利用 NQS 探索电子配对机制，为室温超导材料的设计提供理论洞察。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95" name="Google Shape;19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4875" y="255746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83174" y="255746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61474" y="2557462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oppins"/>
                <a:sym typeface="Poppins"/>
              </a:rPr>
              <a:t>强关联体系中的 AI 探索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0A69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58" y="1571625"/>
            <a:ext cx="1104900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571500" y="4562475"/>
            <a:ext cx="11049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Lato"/>
                <a:sym typeface="Lato"/>
              </a:rPr>
              <a:t>在乙烯、苯环等分子上，NQS 展现出挑战量子化学“金标准”的潜力。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oppins"/>
                <a:sym typeface="Poppins"/>
              </a:rPr>
              <a:t>精度基准：NQS vs 传统方法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0A69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D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oppins"/>
                <a:sym typeface="Poppins"/>
              </a:rPr>
              <a:t>前沿趋势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0A69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8668B5A-13E0-A841-9CEC-66091AFC8808}"/>
              </a:ext>
            </a:extLst>
          </p:cNvPr>
          <p:cNvSpPr txBox="1">
            <a:spLocks/>
          </p:cNvSpPr>
          <p:nvPr/>
        </p:nvSpPr>
        <p:spPr>
          <a:xfrm>
            <a:off x="571500" y="1600200"/>
            <a:ext cx="10809232" cy="452596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altLang="zh-CN" sz="2400" dirty="0">
              <a:solidFill>
                <a:srgbClr val="0F1115"/>
              </a:solidFill>
              <a:latin typeface="Calibri" panose="020F050202020403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293A4A6-CDCF-AD47-80F7-BB6603388320}"/>
              </a:ext>
            </a:extLst>
          </p:cNvPr>
          <p:cNvSpPr txBox="1">
            <a:spLocks/>
          </p:cNvSpPr>
          <p:nvPr/>
        </p:nvSpPr>
        <p:spPr>
          <a:xfrm>
            <a:off x="571500" y="1752600"/>
            <a:ext cx="10961632" cy="452596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zh-CN" sz="2000" b="1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1.</a:t>
            </a:r>
            <a:r>
              <a:rPr lang="zh-CN" altLang="en-US" sz="2000" b="1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 </a:t>
            </a:r>
            <a:r>
              <a:rPr lang="en-CN" sz="2000" b="1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深度学习力场 (ML-FF)：</a:t>
            </a:r>
            <a:r>
              <a:rPr lang="en-CN" sz="2000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逼近量子化学精度的“AI引擎”</a:t>
            </a:r>
            <a:r>
              <a:rPr lang="zh-CN" altLang="en-US" sz="2000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-</a:t>
            </a:r>
            <a:r>
              <a:rPr lang="zh-CN" altLang="en-US" sz="2000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 </a:t>
            </a:r>
            <a:r>
              <a:rPr lang="en-CN" sz="2000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激发态反应力场；通用且具备高阶预测能力的力场；可极化与长程作用力场；预训练几何图神经网络</a:t>
            </a:r>
          </a:p>
          <a:p>
            <a:pPr lvl="3">
              <a:spcBef>
                <a:spcPts val="1200"/>
              </a:spcBef>
            </a:pPr>
            <a:r>
              <a:rPr lang="en-US" altLang="zh-CN" sz="2000" b="1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2.</a:t>
            </a:r>
            <a:r>
              <a:rPr lang="zh-CN" altLang="en-US" sz="2000" b="1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 </a:t>
            </a:r>
            <a:r>
              <a:rPr lang="en-CN" sz="2000" b="1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深度学习电子结构</a:t>
            </a:r>
            <a:r>
              <a:rPr lang="zh-CN" altLang="en-US" sz="2000" b="1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：</a:t>
            </a:r>
            <a:r>
              <a:rPr lang="en-CN" sz="2000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密度泛函理论 (DL-DFT)；量子蒙特卡洛 (DL-QMC)；后处理校正(Delta-learning等)</a:t>
            </a:r>
          </a:p>
          <a:p>
            <a:pPr>
              <a:spcBef>
                <a:spcPts val="1200"/>
              </a:spcBef>
            </a:pPr>
            <a:r>
              <a:rPr lang="en-US" altLang="zh-CN" sz="2000" b="1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3.</a:t>
            </a:r>
            <a:r>
              <a:rPr lang="zh-CN" altLang="en-US" sz="2000" b="1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 </a:t>
            </a:r>
            <a:r>
              <a:rPr lang="en-CN" sz="2000" b="1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生成式化学与分子逆向设计</a:t>
            </a:r>
            <a:r>
              <a:rPr lang="zh-CN" altLang="en-US" sz="2000" b="1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：</a:t>
            </a:r>
            <a:r>
              <a:rPr lang="en-CN" sz="2000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3D分子生成；多目标优化与化学语言模型；构建/筛选大型虚拟化合物库</a:t>
            </a:r>
          </a:p>
          <a:p>
            <a:pPr>
              <a:spcBef>
                <a:spcPts val="1200"/>
              </a:spcBef>
            </a:pPr>
            <a:r>
              <a:rPr lang="en-US" altLang="zh-CN" sz="2000" b="1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4.</a:t>
            </a:r>
            <a:r>
              <a:rPr lang="zh-CN" altLang="en-US" sz="2000" b="1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 </a:t>
            </a:r>
            <a:r>
              <a:rPr lang="en-CN" sz="2000" b="1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有机反应预测与逆合成分析</a:t>
            </a:r>
            <a:r>
              <a:rPr lang="zh-CN" altLang="en-US" sz="2000" b="1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：</a:t>
            </a:r>
            <a:r>
              <a:rPr lang="en-CN" sz="2000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基于几何深度学习的反应预测；大语言模型（LLM）驱动的逆合成；大原子模型与AI Agent。</a:t>
            </a:r>
          </a:p>
          <a:p>
            <a:pPr>
              <a:spcBef>
                <a:spcPts val="1200"/>
              </a:spcBef>
            </a:pPr>
            <a:r>
              <a:rPr lang="en-US" altLang="zh-CN" sz="2000" b="1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5.</a:t>
            </a:r>
            <a:r>
              <a:rPr lang="zh-CN" altLang="en-US" sz="2000" b="1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 </a:t>
            </a:r>
            <a:r>
              <a:rPr lang="en-CN" sz="2000" b="1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AI驱动的谱学与实时分析</a:t>
            </a:r>
            <a:r>
              <a:rPr lang="zh-CN" altLang="en-US" sz="2000" b="1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： </a:t>
            </a:r>
            <a:r>
              <a:rPr lang="en-CN" sz="2000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光谱预测；光谱反演；多模态融合</a:t>
            </a:r>
          </a:p>
          <a:p>
            <a:pPr>
              <a:spcBef>
                <a:spcPts val="1200"/>
              </a:spcBef>
            </a:pPr>
            <a:r>
              <a:rPr lang="en-US" altLang="zh-CN" sz="2000" b="1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6.</a:t>
            </a:r>
            <a:r>
              <a:rPr lang="zh-CN" altLang="en-US" sz="2000" b="1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 </a:t>
            </a:r>
            <a:r>
              <a:rPr lang="en-CN" sz="2000" b="1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迈向认知与自主：</a:t>
            </a:r>
            <a:r>
              <a:rPr lang="en-CN" sz="2000" dirty="0">
                <a:solidFill>
                  <a:srgbClr val="0F1115"/>
                </a:solidFill>
                <a:latin typeface="Calibri" panose="020F0502020204030204" pitchFamily="34" charset="0"/>
                <a:ea typeface="Microsoft YaHei" panose="020B0503020204020204" pitchFamily="34" charset="-122"/>
              </a:rPr>
              <a:t>可解释AI (XAI)；自主实验室 (Self-driving Lab)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 txBox="1"/>
          <p:nvPr/>
        </p:nvSpPr>
        <p:spPr>
          <a:xfrm>
            <a:off x="762000" y="571500"/>
            <a:ext cx="11401425" cy="72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zh-CN" altLang="en-US" sz="3300" b="1" dirty="0">
                <a:solidFill>
                  <a:srgbClr val="002D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oppins"/>
              </a:rPr>
              <a:t>总结：未来展望</a:t>
            </a:r>
            <a:endParaRPr lang="en-CN" sz="3300" b="1" dirty="0">
              <a:solidFill>
                <a:srgbClr val="002D6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0A69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  <a:sym typeface="Calibri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8668B5A-13E0-A841-9CEC-66091AFC8808}"/>
              </a:ext>
            </a:extLst>
          </p:cNvPr>
          <p:cNvSpPr txBox="1">
            <a:spLocks/>
          </p:cNvSpPr>
          <p:nvPr/>
        </p:nvSpPr>
        <p:spPr>
          <a:xfrm>
            <a:off x="571500" y="1600200"/>
            <a:ext cx="10809232" cy="452596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spcBef>
                <a:spcPts val="1200"/>
              </a:spcBef>
              <a:buSzPts val="1000"/>
              <a:tabLst>
                <a:tab pos="457200" algn="l"/>
              </a:tabLst>
            </a:pPr>
            <a:r>
              <a:rPr lang="zh-CN" sz="2000" dirty="0">
                <a:solidFill>
                  <a:srgbClr val="0F1115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当前深度学习与理论化学的碰撞，正从根本上重塑分子科学的研究范式：</a:t>
            </a:r>
            <a:endParaRPr lang="en-CN" sz="2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2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zh-CN" sz="2000" b="1" dirty="0">
                <a:solidFill>
                  <a:srgbClr val="0F1115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从分析到生成</a:t>
            </a:r>
            <a:r>
              <a:rPr lang="zh-CN" sz="2000" dirty="0">
                <a:solidFill>
                  <a:srgbClr val="0F1115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：从被动计算性质，转向主动按需设计分子、材料和反应路径。</a:t>
            </a:r>
            <a:endParaRPr lang="en-CN" sz="2000" dirty="0">
              <a:solidFill>
                <a:srgbClr val="0F1115"/>
              </a:solidFill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2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zh-CN" sz="2000" b="1" dirty="0">
                <a:solidFill>
                  <a:srgbClr val="0F1115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从黑盒到白盒</a:t>
            </a:r>
            <a:r>
              <a:rPr lang="zh-CN" sz="2000" dirty="0">
                <a:solidFill>
                  <a:srgbClr val="0F1115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：通过可解释</a:t>
            </a:r>
            <a:r>
              <a:rPr lang="en-CN" sz="20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zh-CN" sz="2000" dirty="0">
                <a:solidFill>
                  <a:srgbClr val="0F1115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，打破黑箱模型，使其成为发现新知识的</a:t>
            </a:r>
            <a:r>
              <a:rPr lang="en-CN" sz="20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sz="2000" dirty="0">
                <a:solidFill>
                  <a:srgbClr val="0F1115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科学家</a:t>
            </a:r>
            <a:r>
              <a:rPr lang="en-CN" sz="20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sz="2000" dirty="0">
                <a:solidFill>
                  <a:srgbClr val="0F1115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。</a:t>
            </a:r>
            <a:endParaRPr lang="en-CN" sz="2000" dirty="0">
              <a:solidFill>
                <a:srgbClr val="0F1115"/>
              </a:solidFill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2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zh-CN" sz="2000" b="1" dirty="0">
                <a:solidFill>
                  <a:srgbClr val="0F1115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从单点到多模态与泛化</a:t>
            </a:r>
            <a:r>
              <a:rPr lang="zh-CN" sz="2000" dirty="0">
                <a:solidFill>
                  <a:srgbClr val="0F1115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：从处理单一分子结构转向融合数据、光谱、实验文本等多模态信息，构建具有高度泛化能力的通用大原子模型。</a:t>
            </a:r>
            <a:endParaRPr lang="en-CN" sz="2000" dirty="0">
              <a:solidFill>
                <a:srgbClr val="0F1115"/>
              </a:solidFill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2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zh-CN" sz="2000" b="1" dirty="0">
                <a:solidFill>
                  <a:srgbClr val="0F1115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从计算到行动</a:t>
            </a:r>
            <a:r>
              <a:rPr lang="zh-CN" sz="2000" dirty="0">
                <a:solidFill>
                  <a:srgbClr val="0F1115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：与自动化机器人结合，形成能自主构建科学假说、设计并执行实验、从结果中学习的自主实验室。</a:t>
            </a:r>
            <a:endParaRPr lang="en-CN" sz="2000" dirty="0">
              <a:solidFill>
                <a:srgbClr val="0F1115"/>
              </a:solidFill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2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zh-CN" sz="2000" b="1" dirty="0">
                <a:solidFill>
                  <a:srgbClr val="0F1115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量子的前瞻探索</a:t>
            </a:r>
            <a:r>
              <a:rPr lang="zh-CN" sz="2000" dirty="0">
                <a:solidFill>
                  <a:srgbClr val="0F1115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：探索量子计算与经典</a:t>
            </a:r>
            <a:r>
              <a:rPr lang="en-CN" sz="20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zh-CN" sz="2000" dirty="0">
                <a:solidFill>
                  <a:srgbClr val="0F1115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的融合框架（如</a:t>
            </a:r>
            <a:r>
              <a:rPr lang="en-CN" sz="20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QCML</a:t>
            </a:r>
            <a:r>
              <a:rPr lang="zh-CN" sz="2000" dirty="0">
                <a:solidFill>
                  <a:srgbClr val="0F1115"/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  <a:cs typeface="Microsoft YaHei" panose="020B0503020204020204" pitchFamily="34" charset="-122"/>
              </a:rPr>
              <a:t>），为模拟强关联体系等挑战性难题开辟新路径。</a:t>
            </a:r>
            <a:endParaRPr lang="en-CN" sz="2000" dirty="0">
              <a:solidFill>
                <a:srgbClr val="0F1115"/>
              </a:solidFill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157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895</Words>
  <Application>Microsoft Macintosh PowerPoint</Application>
  <PresentationFormat>Widescreen</PresentationFormat>
  <Paragraphs>122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Segoe UI</vt:lpstr>
      <vt:lpstr>Merriweather</vt:lpstr>
      <vt:lpstr>DM Sans</vt:lpstr>
      <vt:lpstr>Microsoft YaHei</vt:lpstr>
      <vt:lpstr>Calibri</vt:lpstr>
      <vt:lpstr>Office Theme</vt:lpstr>
      <vt:lpstr>PowerPoint Presentation</vt:lpstr>
      <vt:lpstr>大纲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大纲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li zhendong</cp:lastModifiedBy>
  <cp:revision>72</cp:revision>
  <dcterms:modified xsi:type="dcterms:W3CDTF">2026-05-18T01:58:49Z</dcterms:modified>
</cp:coreProperties>
</file>